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snapToObjects="1">
      <p:cViewPr varScale="1">
        <p:scale>
          <a:sx n="81" d="100"/>
          <a:sy n="81" d="100"/>
        </p:scale>
        <p:origin x="1526"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1375053"/>
          </a:xfrm>
        </p:spPr>
        <p:txBody>
          <a:bodyPr/>
          <a:lstStyle/>
          <a:p>
            <a:r>
              <a:rPr lang="en-IN" dirty="0"/>
              <a:t>Title Slide</a:t>
            </a:r>
          </a:p>
        </p:txBody>
      </p:sp>
      <p:sp>
        <p:nvSpPr>
          <p:cNvPr id="8" name="TextBox 7">
            <a:extLst>
              <a:ext uri="{FF2B5EF4-FFF2-40B4-BE49-F238E27FC236}">
                <a16:creationId xmlns:a16="http://schemas.microsoft.com/office/drawing/2014/main" id="{7829FD70-41FD-82E0-8D2E-AD269CD49110}"/>
              </a:ext>
            </a:extLst>
          </p:cNvPr>
          <p:cNvSpPr txBox="1"/>
          <p:nvPr/>
        </p:nvSpPr>
        <p:spPr>
          <a:xfrm>
            <a:off x="725864" y="1838228"/>
            <a:ext cx="9134572" cy="430887"/>
          </a:xfrm>
          <a:prstGeom prst="rect">
            <a:avLst/>
          </a:prstGeom>
          <a:noFill/>
        </p:spPr>
        <p:txBody>
          <a:bodyPr wrap="square" rtlCol="0">
            <a:spAutoFit/>
          </a:bodyPr>
          <a:lstStyle/>
          <a:p>
            <a:pPr marL="342900" indent="-342900">
              <a:buFont typeface="Arial" panose="020B0604020202020204" pitchFamily="34" charset="0"/>
              <a:buChar char="•"/>
            </a:pPr>
            <a:r>
              <a:rPr lang="en-US" sz="2200" dirty="0"/>
              <a:t>Project Name: Fingerprint Based Door Lock system</a:t>
            </a:r>
            <a:endParaRPr lang="en-IN" sz="2200" dirty="0"/>
          </a:p>
        </p:txBody>
      </p:sp>
      <p:sp>
        <p:nvSpPr>
          <p:cNvPr id="9" name="TextBox 8">
            <a:extLst>
              <a:ext uri="{FF2B5EF4-FFF2-40B4-BE49-F238E27FC236}">
                <a16:creationId xmlns:a16="http://schemas.microsoft.com/office/drawing/2014/main" id="{37713250-2E91-6EF3-EF61-C311862B664F}"/>
              </a:ext>
            </a:extLst>
          </p:cNvPr>
          <p:cNvSpPr txBox="1"/>
          <p:nvPr/>
        </p:nvSpPr>
        <p:spPr>
          <a:xfrm>
            <a:off x="725865" y="2457654"/>
            <a:ext cx="7960936" cy="430887"/>
          </a:xfrm>
          <a:prstGeom prst="rect">
            <a:avLst/>
          </a:prstGeom>
          <a:noFill/>
        </p:spPr>
        <p:txBody>
          <a:bodyPr wrap="square" rtlCol="0">
            <a:spAutoFit/>
          </a:bodyPr>
          <a:lstStyle/>
          <a:p>
            <a:pPr marL="342900" indent="-342900">
              <a:buFont typeface="Arial" panose="020B0604020202020204" pitchFamily="34" charset="0"/>
              <a:buChar char="•"/>
            </a:pPr>
            <a:r>
              <a:rPr lang="en-US" sz="2200" dirty="0"/>
              <a:t>Name: </a:t>
            </a:r>
            <a:r>
              <a:rPr lang="en-US" sz="2200" dirty="0" err="1"/>
              <a:t>Thirumalagiri</a:t>
            </a:r>
            <a:r>
              <a:rPr lang="en-US" sz="2200" dirty="0"/>
              <a:t> Amulya</a:t>
            </a:r>
            <a:endParaRPr lang="en-IN" sz="2200" dirty="0"/>
          </a:p>
        </p:txBody>
      </p:sp>
      <p:sp>
        <p:nvSpPr>
          <p:cNvPr id="10" name="TextBox 9">
            <a:extLst>
              <a:ext uri="{FF2B5EF4-FFF2-40B4-BE49-F238E27FC236}">
                <a16:creationId xmlns:a16="http://schemas.microsoft.com/office/drawing/2014/main" id="{6E111D25-8C37-FD36-7C68-CC9A380D9233}"/>
              </a:ext>
            </a:extLst>
          </p:cNvPr>
          <p:cNvSpPr txBox="1"/>
          <p:nvPr/>
        </p:nvSpPr>
        <p:spPr>
          <a:xfrm>
            <a:off x="725865" y="3077080"/>
            <a:ext cx="6325384" cy="430887"/>
          </a:xfrm>
          <a:prstGeom prst="rect">
            <a:avLst/>
          </a:prstGeom>
          <a:noFill/>
        </p:spPr>
        <p:txBody>
          <a:bodyPr wrap="square" rtlCol="0">
            <a:spAutoFit/>
          </a:bodyPr>
          <a:lstStyle/>
          <a:p>
            <a:pPr marL="342900" indent="-342900">
              <a:buFont typeface="Arial" panose="020B0604020202020204" pitchFamily="34" charset="0"/>
              <a:buChar char="•"/>
            </a:pPr>
            <a:r>
              <a:rPr lang="en-US" sz="2200" dirty="0"/>
              <a:t>Intern ID: CITS3856</a:t>
            </a:r>
            <a:endParaRPr lang="en-IN" sz="2200" dirty="0"/>
          </a:p>
        </p:txBody>
      </p:sp>
      <p:sp>
        <p:nvSpPr>
          <p:cNvPr id="11" name="TextBox 10">
            <a:extLst>
              <a:ext uri="{FF2B5EF4-FFF2-40B4-BE49-F238E27FC236}">
                <a16:creationId xmlns:a16="http://schemas.microsoft.com/office/drawing/2014/main" id="{7E3C7B24-63C1-2F8E-8DED-8A012CE05A09}"/>
              </a:ext>
            </a:extLst>
          </p:cNvPr>
          <p:cNvSpPr txBox="1"/>
          <p:nvPr/>
        </p:nvSpPr>
        <p:spPr>
          <a:xfrm rot="10800000" flipV="1">
            <a:off x="725865" y="3696506"/>
            <a:ext cx="5995442" cy="430887"/>
          </a:xfrm>
          <a:prstGeom prst="rect">
            <a:avLst/>
          </a:prstGeom>
          <a:noFill/>
        </p:spPr>
        <p:txBody>
          <a:bodyPr wrap="square" rtlCol="0">
            <a:spAutoFit/>
          </a:bodyPr>
          <a:lstStyle/>
          <a:p>
            <a:pPr marL="342900" indent="-342900">
              <a:buFont typeface="Arial" panose="020B0604020202020204" pitchFamily="34" charset="0"/>
              <a:buChar char="•"/>
            </a:pPr>
            <a:r>
              <a:rPr lang="en-US" sz="2200" dirty="0"/>
              <a:t>Duration: 4 weeks</a:t>
            </a:r>
            <a:endParaRPr lang="en-IN"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Abstract</a:t>
            </a:r>
          </a:p>
        </p:txBody>
      </p:sp>
      <p:sp>
        <p:nvSpPr>
          <p:cNvPr id="5" name="TextBox 4">
            <a:extLst>
              <a:ext uri="{FF2B5EF4-FFF2-40B4-BE49-F238E27FC236}">
                <a16:creationId xmlns:a16="http://schemas.microsoft.com/office/drawing/2014/main" id="{7AEAE691-B46F-CD44-7C27-047F9C2E69C6}"/>
              </a:ext>
            </a:extLst>
          </p:cNvPr>
          <p:cNvSpPr txBox="1"/>
          <p:nvPr/>
        </p:nvSpPr>
        <p:spPr>
          <a:xfrm flipH="1">
            <a:off x="282804" y="1527142"/>
            <a:ext cx="8691514" cy="4401205"/>
          </a:xfrm>
          <a:prstGeom prst="rect">
            <a:avLst/>
          </a:prstGeom>
          <a:noFill/>
        </p:spPr>
        <p:txBody>
          <a:bodyPr wrap="square" rtlCol="0">
            <a:spAutoFit/>
          </a:bodyPr>
          <a:lstStyle/>
          <a:p>
            <a:r>
              <a:rPr lang="en-US" sz="2000" dirty="0"/>
              <a:t>The </a:t>
            </a:r>
            <a:r>
              <a:rPr lang="en-US" sz="2000" b="1" dirty="0"/>
              <a:t>Fingerprint-Based Door Lock System</a:t>
            </a:r>
            <a:r>
              <a:rPr lang="en-US" sz="2000" dirty="0"/>
              <a:t> is a smart security system designed to provide secure and convenient access control using fingerprint authentication. Traditional lock-and-key systems can be easily lost, duplicated, or stolen, leading to security concerns. This project overcomes these limitations by using biometric fingerprint recognition to allow access only to authorized users.</a:t>
            </a:r>
          </a:p>
          <a:p>
            <a:r>
              <a:rPr lang="en-US" sz="2000" dirty="0"/>
              <a:t>The system consists of a fingerprint sensor, a microcontroller, and an electronic door locking mechanism. When a user places their finger on the sensor, the fingerprint is scanned and compared with the stored fingerprint data. If a match is found, the door lock is activated and access is granted. If the fingerprint is not recognized, access is denied, ensuring enhanced security.</a:t>
            </a:r>
          </a:p>
          <a:p>
            <a:r>
              <a:rPr lang="en-US" sz="2000" dirty="0"/>
              <a:t>This project is suitable for homes, offices, laboratories, and other restricted areas where secure access is required. The Fingerprint-Based Door Lock System offers improved security, reliability, and ease of use while eliminating the need for physical keys.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1643613"/>
          </a:xfrm>
        </p:spPr>
        <p:txBody>
          <a:bodyPr/>
          <a:lstStyle/>
          <a:p>
            <a:r>
              <a:rPr dirty="0"/>
              <a:t>Introduction</a:t>
            </a:r>
          </a:p>
        </p:txBody>
      </p:sp>
      <p:sp>
        <p:nvSpPr>
          <p:cNvPr id="4" name="TextBox 3">
            <a:extLst>
              <a:ext uri="{FF2B5EF4-FFF2-40B4-BE49-F238E27FC236}">
                <a16:creationId xmlns:a16="http://schemas.microsoft.com/office/drawing/2014/main" id="{D7F7DCE3-5C04-5BBD-D1C7-51609340A713}"/>
              </a:ext>
            </a:extLst>
          </p:cNvPr>
          <p:cNvSpPr txBox="1"/>
          <p:nvPr/>
        </p:nvSpPr>
        <p:spPr>
          <a:xfrm>
            <a:off x="457200" y="1709531"/>
            <a:ext cx="8229600" cy="3139321"/>
          </a:xfrm>
          <a:prstGeom prst="rect">
            <a:avLst/>
          </a:prstGeom>
          <a:noFill/>
        </p:spPr>
        <p:txBody>
          <a:bodyPr wrap="square" rtlCol="0">
            <a:spAutoFit/>
          </a:bodyPr>
          <a:lstStyle/>
          <a:p>
            <a:r>
              <a:rPr lang="en-US" dirty="0" err="1"/>
              <a:t>ecurity</a:t>
            </a:r>
            <a:r>
              <a:rPr lang="en-US" dirty="0"/>
              <a:t> plays a vital role in protecting homes, offices, and restricted areas from unauthorized access. Traditional lock-and-key systems have been widely used for many years; however, they have several limitations, such as the risk of losing keys, key duplication, and unauthorized entry. To overcome these challenges, biometric authentication systems have become increasingly popular due to their reliability and enhanced security.</a:t>
            </a:r>
          </a:p>
          <a:p>
            <a:r>
              <a:rPr lang="en-US" dirty="0"/>
              <a:t>The </a:t>
            </a:r>
            <a:r>
              <a:rPr lang="en-US" b="1" dirty="0"/>
              <a:t>Fingerprint-Based Door Lock System</a:t>
            </a:r>
            <a:r>
              <a:rPr lang="en-US" dirty="0"/>
              <a:t> is a modern security solution that uses fingerprint recognition technology to control access. Since every individual's fingerprint is unique, it provides a highly secure method of authentication. In this system, a fingerprint sensor captures and verifies the user's fingerprint against stored data. If a match is found, the door is unlocked; otherwise, access is denied.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Objectives</a:t>
            </a:r>
          </a:p>
        </p:txBody>
      </p:sp>
      <p:sp>
        <p:nvSpPr>
          <p:cNvPr id="3" name="Content Placeholder 2"/>
          <p:cNvSpPr>
            <a:spLocks noGrp="1"/>
          </p:cNvSpPr>
          <p:nvPr>
            <p:ph idx="1"/>
          </p:nvPr>
        </p:nvSpPr>
        <p:spPr>
          <a:xfrm>
            <a:off x="457200" y="1600200"/>
            <a:ext cx="8229600" cy="3389243"/>
          </a:xfrm>
        </p:spPr>
        <p:txBody>
          <a:bodyPr>
            <a:normAutofit/>
          </a:bodyPr>
          <a:lstStyle/>
          <a:p>
            <a:pPr marL="0" indent="0">
              <a:buNone/>
            </a:pPr>
            <a:r>
              <a:rPr lang="en-US" sz="2000" dirty="0"/>
              <a:t>The main objective of the </a:t>
            </a:r>
            <a:r>
              <a:rPr lang="en-US" sz="2000" b="1" dirty="0"/>
              <a:t>Fingerprint-Based Door Lock System</a:t>
            </a:r>
            <a:r>
              <a:rPr lang="en-US" sz="2000" dirty="0"/>
              <a:t> is to develop a secure, reliable, and user-friendly access control system using biometric fingerprint authentication. The project aims to replace traditional lock-and-key mechanisms with a modern security solution that grants access only to authorized individuals. By utilizing unique fingerprint patterns for identification, the system enhances security, prevents unauthorized access, and eliminates the inconvenience of carrying physical keys. Additionally, the project demonstrates the practical application of embedded systems and biometric technology in real-world security systems for homes, offices, and other restricted areas.</a:t>
            </a:r>
          </a:p>
          <a:p>
            <a:pPr marL="0" indent="0">
              <a:buNone/>
            </a:pPr>
            <a:endParaRPr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1862275"/>
          </a:xfrm>
        </p:spPr>
        <p:txBody>
          <a:bodyPr/>
          <a:lstStyle/>
          <a:p>
            <a:r>
              <a:rPr lang="en-US" dirty="0"/>
              <a:t>Components Used</a:t>
            </a:r>
            <a:endParaRPr dirty="0"/>
          </a:p>
        </p:txBody>
      </p:sp>
      <p:sp>
        <p:nvSpPr>
          <p:cNvPr id="8" name="Rectangle 3">
            <a:extLst>
              <a:ext uri="{FF2B5EF4-FFF2-40B4-BE49-F238E27FC236}">
                <a16:creationId xmlns:a16="http://schemas.microsoft.com/office/drawing/2014/main" id="{F2156D71-B123-15DD-82CC-3E49EF3D1C5F}"/>
              </a:ext>
            </a:extLst>
          </p:cNvPr>
          <p:cNvSpPr>
            <a:spLocks noChangeArrowheads="1"/>
          </p:cNvSpPr>
          <p:nvPr/>
        </p:nvSpPr>
        <p:spPr bwMode="auto">
          <a:xfrm rot="10800000" flipV="1">
            <a:off x="268355" y="1783652"/>
            <a:ext cx="6679096"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Arduino Uno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Fingerprint Sensor Module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Servo Motor / Solenoid Door Lock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LCD Display (16×2)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Buzzer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LED Indicators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Push Buttons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Breadboard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Jumper Wires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Methodology</a:t>
            </a:r>
          </a:p>
        </p:txBody>
      </p:sp>
      <p:sp>
        <p:nvSpPr>
          <p:cNvPr id="4" name="Rectangle 1">
            <a:extLst>
              <a:ext uri="{FF2B5EF4-FFF2-40B4-BE49-F238E27FC236}">
                <a16:creationId xmlns:a16="http://schemas.microsoft.com/office/drawing/2014/main" id="{57264630-2F31-BC6A-59B6-FF92AB23C52D}"/>
              </a:ext>
            </a:extLst>
          </p:cNvPr>
          <p:cNvSpPr>
            <a:spLocks noGrp="1" noChangeArrowheads="1"/>
          </p:cNvSpPr>
          <p:nvPr>
            <p:ph idx="1"/>
          </p:nvPr>
        </p:nvSpPr>
        <p:spPr bwMode="auto">
          <a:xfrm>
            <a:off x="109330" y="1617615"/>
            <a:ext cx="8895522"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Fingerprint Enrollment:</a:t>
            </a:r>
            <a:r>
              <a:rPr kumimoji="0" lang="en-US" altLang="en-US" sz="1800" b="0" i="0" u="none" strike="noStrike" cap="none" normalizeH="0" baseline="0" dirty="0">
                <a:ln>
                  <a:noFill/>
                </a:ln>
                <a:solidFill>
                  <a:schemeClr val="tx1"/>
                </a:solidFill>
                <a:effectLst/>
                <a:latin typeface="Arial" panose="020B0604020202020204" pitchFamily="34" charset="0"/>
              </a:rPr>
              <a:t> Authorized users' fingerprints are stored in the fingerprint sensor memory.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Fingerprint Scanning:</a:t>
            </a:r>
            <a:r>
              <a:rPr kumimoji="0" lang="en-US" altLang="en-US" sz="1800" b="0" i="0" u="none" strike="noStrike" cap="none" normalizeH="0" baseline="0" dirty="0">
                <a:ln>
                  <a:noFill/>
                </a:ln>
                <a:solidFill>
                  <a:schemeClr val="tx1"/>
                </a:solidFill>
                <a:effectLst/>
                <a:latin typeface="Arial" panose="020B0604020202020204" pitchFamily="34" charset="0"/>
              </a:rPr>
              <a:t> When a user places a finger on the sensor, the fingerprint image is captured.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Fingerprint Matching:</a:t>
            </a:r>
            <a:r>
              <a:rPr kumimoji="0" lang="en-US" altLang="en-US" sz="1800" b="0" i="0" u="none" strike="noStrike" cap="none" normalizeH="0" baseline="0" dirty="0">
                <a:ln>
                  <a:noFill/>
                </a:ln>
                <a:solidFill>
                  <a:schemeClr val="tx1"/>
                </a:solidFill>
                <a:effectLst/>
                <a:latin typeface="Arial" panose="020B0604020202020204" pitchFamily="34" charset="0"/>
              </a:rPr>
              <a:t> The scanned fingerprint is compared with the stored fingerprint database.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Authentication:</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If the fingerprint matches, access is granted.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If the fingerprint does not match, access is denied.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Door Control:</a:t>
            </a:r>
            <a:r>
              <a:rPr kumimoji="0" lang="en-US" altLang="en-US" sz="1800" b="0" i="0" u="none" strike="noStrike" cap="none" normalizeH="0" baseline="0" dirty="0">
                <a:ln>
                  <a:noFill/>
                </a:ln>
                <a:solidFill>
                  <a:schemeClr val="tx1"/>
                </a:solidFill>
                <a:effectLst/>
                <a:latin typeface="Arial" panose="020B0604020202020204" pitchFamily="34" charset="0"/>
              </a:rPr>
              <a:t> The Arduino Uno processes the authentication result and controls the servo motor/electronic lock.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Status Indication:</a:t>
            </a:r>
            <a:r>
              <a:rPr kumimoji="0" lang="en-US" altLang="en-US" sz="1800" b="0" i="0" u="none" strike="noStrike" cap="none" normalizeH="0" baseline="0" dirty="0">
                <a:ln>
                  <a:noFill/>
                </a:ln>
                <a:solidFill>
                  <a:schemeClr val="tx1"/>
                </a:solidFill>
                <a:effectLst/>
                <a:latin typeface="Arial" panose="020B0604020202020204" pitchFamily="34" charset="0"/>
              </a:rPr>
              <a:t> LEDs, buzzer, or LCD display indicate whether access is granted or denied.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Door Locking:</a:t>
            </a:r>
            <a:r>
              <a:rPr kumimoji="0" lang="en-US" altLang="en-US" sz="1800" b="0" i="0" u="none" strike="noStrike" cap="none" normalizeH="0" baseline="0" dirty="0">
                <a:ln>
                  <a:noFill/>
                </a:ln>
                <a:solidFill>
                  <a:schemeClr val="tx1"/>
                </a:solidFill>
                <a:effectLst/>
                <a:latin typeface="Arial" panose="020B0604020202020204" pitchFamily="34" charset="0"/>
              </a:rPr>
              <a:t> After a predefined time, the door automatically locks again to maintain security.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68757" y="149087"/>
            <a:ext cx="5218042" cy="1268552"/>
          </a:xfrm>
        </p:spPr>
        <p:txBody>
          <a:bodyPr/>
          <a:lstStyle/>
          <a:p>
            <a:pPr algn="l"/>
            <a:r>
              <a:rPr lang="en-IN" dirty="0"/>
              <a:t>Result</a:t>
            </a:r>
            <a:endParaRPr dirty="0"/>
          </a:p>
        </p:txBody>
      </p:sp>
      <p:sp>
        <p:nvSpPr>
          <p:cNvPr id="3" name="Content Placeholder 2"/>
          <p:cNvSpPr>
            <a:spLocks noGrp="1"/>
          </p:cNvSpPr>
          <p:nvPr>
            <p:ph idx="1"/>
          </p:nvPr>
        </p:nvSpPr>
        <p:spPr>
          <a:xfrm>
            <a:off x="457200" y="1417638"/>
            <a:ext cx="7941365" cy="1454771"/>
          </a:xfrm>
        </p:spPr>
        <p:txBody>
          <a:bodyPr>
            <a:normAutofit/>
          </a:bodyPr>
          <a:lstStyle/>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sz="2000" dirty="0"/>
          </a:p>
        </p:txBody>
      </p:sp>
      <p:sp>
        <p:nvSpPr>
          <p:cNvPr id="6" name="TextBox 5">
            <a:extLst>
              <a:ext uri="{FF2B5EF4-FFF2-40B4-BE49-F238E27FC236}">
                <a16:creationId xmlns:a16="http://schemas.microsoft.com/office/drawing/2014/main" id="{5312B5E1-76E8-B162-89AF-C0404C19E913}"/>
              </a:ext>
            </a:extLst>
          </p:cNvPr>
          <p:cNvSpPr txBox="1"/>
          <p:nvPr/>
        </p:nvSpPr>
        <p:spPr>
          <a:xfrm>
            <a:off x="69575" y="1341783"/>
            <a:ext cx="8766312" cy="1200329"/>
          </a:xfrm>
          <a:prstGeom prst="rect">
            <a:avLst/>
          </a:prstGeom>
          <a:noFill/>
        </p:spPr>
        <p:txBody>
          <a:bodyPr wrap="square" rtlCol="0">
            <a:spAutoFit/>
          </a:bodyPr>
          <a:lstStyle/>
          <a:p>
            <a:r>
              <a:rPr lang="en-US" dirty="0"/>
              <a:t>The Fingerprint-Based Door Lock System was successfully developed and tested. The system accurately identifies authorized users through fingerprint authentication and grants access by unlocking the door. Unauthorized users are denied access, ensuring enhanced security.</a:t>
            </a:r>
          </a:p>
          <a:p>
            <a:endParaRPr lang="en-IN" dirty="0"/>
          </a:p>
        </p:txBody>
      </p:sp>
      <p:pic>
        <p:nvPicPr>
          <p:cNvPr id="8" name="Picture 7">
            <a:extLst>
              <a:ext uri="{FF2B5EF4-FFF2-40B4-BE49-F238E27FC236}">
                <a16:creationId xmlns:a16="http://schemas.microsoft.com/office/drawing/2014/main" id="{4440D226-A2B2-FC51-75C9-54201BFDE940}"/>
              </a:ext>
            </a:extLst>
          </p:cNvPr>
          <p:cNvPicPr>
            <a:picLocks noChangeAspect="1"/>
          </p:cNvPicPr>
          <p:nvPr/>
        </p:nvPicPr>
        <p:blipFill>
          <a:blip r:embed="rId2"/>
          <a:stretch>
            <a:fillRect/>
          </a:stretch>
        </p:blipFill>
        <p:spPr>
          <a:xfrm>
            <a:off x="2025563" y="2514597"/>
            <a:ext cx="5588768" cy="432352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1564101"/>
          </a:xfrm>
        </p:spPr>
        <p:txBody>
          <a:bodyPr/>
          <a:lstStyle/>
          <a:p>
            <a:r>
              <a:rPr lang="en-IN" dirty="0"/>
              <a:t>Advantages</a:t>
            </a:r>
            <a:endParaRPr dirty="0"/>
          </a:p>
        </p:txBody>
      </p:sp>
      <p:sp>
        <p:nvSpPr>
          <p:cNvPr id="4" name="Rectangle 1">
            <a:extLst>
              <a:ext uri="{FF2B5EF4-FFF2-40B4-BE49-F238E27FC236}">
                <a16:creationId xmlns:a16="http://schemas.microsoft.com/office/drawing/2014/main" id="{7863BDD0-90BC-8B01-1402-92F08F342F56}"/>
              </a:ext>
            </a:extLst>
          </p:cNvPr>
          <p:cNvSpPr>
            <a:spLocks noGrp="1" noChangeArrowheads="1"/>
          </p:cNvSpPr>
          <p:nvPr>
            <p:ph idx="1"/>
          </p:nvPr>
        </p:nvSpPr>
        <p:spPr bwMode="auto">
          <a:xfrm>
            <a:off x="457200" y="3524625"/>
            <a:ext cx="6480313"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BDCE0C59-00B2-8CCB-B04C-F4D5290B3CEF}"/>
              </a:ext>
            </a:extLst>
          </p:cNvPr>
          <p:cNvSpPr>
            <a:spLocks noChangeArrowheads="1"/>
          </p:cNvSpPr>
          <p:nvPr/>
        </p:nvSpPr>
        <p:spPr bwMode="auto">
          <a:xfrm rot="10800000" flipV="1">
            <a:off x="238539" y="1498036"/>
            <a:ext cx="8905461"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High security through biometric authentication.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Eliminates the need for physical keys.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Prevents unauthorized access.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Fast and accurate user verification.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Easy to use and operate.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Reliable and efficient system.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Low maintenance requirements.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Reduces the risk of key loss or duplication.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7748" y="673285"/>
            <a:ext cx="8229600" cy="1143000"/>
          </a:xfrm>
        </p:spPr>
        <p:txBody>
          <a:bodyPr/>
          <a:lstStyle/>
          <a:p>
            <a:r>
              <a:rPr lang="en-IN" dirty="0"/>
              <a:t>Applications</a:t>
            </a:r>
            <a:endParaRPr dirty="0"/>
          </a:p>
        </p:txBody>
      </p:sp>
      <p:sp>
        <p:nvSpPr>
          <p:cNvPr id="3" name="Content Placeholder 2"/>
          <p:cNvSpPr>
            <a:spLocks noGrp="1"/>
          </p:cNvSpPr>
          <p:nvPr>
            <p:ph idx="1"/>
          </p:nvPr>
        </p:nvSpPr>
        <p:spPr/>
        <p:txBody>
          <a:bodyPr>
            <a:normAutofit/>
          </a:bodyPr>
          <a:lstStyle/>
          <a:p>
            <a:pPr marL="0" indent="0">
              <a:buNone/>
            </a:pPr>
            <a:endParaRPr lang="en-US" sz="2000" dirty="0"/>
          </a:p>
          <a:p>
            <a:pPr marL="0" indent="0">
              <a:buNone/>
            </a:pPr>
            <a:endParaRPr sz="2000" dirty="0"/>
          </a:p>
        </p:txBody>
      </p:sp>
      <p:sp>
        <p:nvSpPr>
          <p:cNvPr id="4" name="TextBox 3">
            <a:extLst>
              <a:ext uri="{FF2B5EF4-FFF2-40B4-BE49-F238E27FC236}">
                <a16:creationId xmlns:a16="http://schemas.microsoft.com/office/drawing/2014/main" id="{56BD2AF2-0A9F-9411-0DF4-1F56C5F37BCC}"/>
              </a:ext>
            </a:extLst>
          </p:cNvPr>
          <p:cNvSpPr txBox="1"/>
          <p:nvPr/>
        </p:nvSpPr>
        <p:spPr>
          <a:xfrm>
            <a:off x="457200" y="1985096"/>
            <a:ext cx="4313583" cy="3785652"/>
          </a:xfrm>
          <a:prstGeom prst="rect">
            <a:avLst/>
          </a:prstGeom>
          <a:noFill/>
        </p:spPr>
        <p:txBody>
          <a:bodyPr wrap="square" rtlCol="0">
            <a:spAutoFit/>
          </a:bodyPr>
          <a:lstStyle/>
          <a:p>
            <a:pPr marL="342900" indent="-342900">
              <a:buFont typeface="Arial" panose="020B0604020202020204" pitchFamily="34" charset="0"/>
              <a:buChar char="•"/>
            </a:pPr>
            <a:r>
              <a:rPr lang="en-US" sz="2000" dirty="0"/>
              <a:t>Home security systems. </a:t>
            </a:r>
          </a:p>
          <a:p>
            <a:pPr marL="342900" indent="-342900">
              <a:buFont typeface="Arial" panose="020B0604020202020204" pitchFamily="34" charset="0"/>
              <a:buChar char="•"/>
            </a:pPr>
            <a:r>
              <a:rPr lang="en-US" sz="2000" dirty="0"/>
              <a:t>Office access control. </a:t>
            </a:r>
          </a:p>
          <a:p>
            <a:pPr marL="342900" indent="-342900">
              <a:buFont typeface="Arial" panose="020B0604020202020204" pitchFamily="34" charset="0"/>
              <a:buChar char="•"/>
            </a:pPr>
            <a:r>
              <a:rPr lang="en-US" sz="2000" dirty="0"/>
              <a:t>Banks and financial institutions. </a:t>
            </a:r>
          </a:p>
          <a:p>
            <a:pPr marL="342900" indent="-342900">
              <a:buFont typeface="Arial" panose="020B0604020202020204" pitchFamily="34" charset="0"/>
              <a:buChar char="•"/>
            </a:pPr>
            <a:r>
              <a:rPr lang="en-US" sz="2000" dirty="0"/>
              <a:t>Laboratories and research centers. </a:t>
            </a:r>
          </a:p>
          <a:p>
            <a:pPr marL="342900" indent="-342900">
              <a:buFont typeface="Arial" panose="020B0604020202020204" pitchFamily="34" charset="0"/>
              <a:buChar char="•"/>
            </a:pPr>
            <a:r>
              <a:rPr lang="en-US" sz="2000" dirty="0"/>
              <a:t>Schools and colleges. </a:t>
            </a:r>
          </a:p>
          <a:p>
            <a:pPr marL="342900" indent="-342900">
              <a:buFont typeface="Arial" panose="020B0604020202020204" pitchFamily="34" charset="0"/>
              <a:buChar char="•"/>
            </a:pPr>
            <a:r>
              <a:rPr lang="en-US" sz="2000" dirty="0"/>
              <a:t>Hospitals and healthcare facilities. </a:t>
            </a:r>
          </a:p>
          <a:p>
            <a:pPr marL="342900" indent="-342900">
              <a:buFont typeface="Arial" panose="020B0604020202020204" pitchFamily="34" charset="0"/>
              <a:buChar char="•"/>
            </a:pPr>
            <a:r>
              <a:rPr lang="en-US" sz="2000" dirty="0"/>
              <a:t>Industrial and factory premises. </a:t>
            </a:r>
          </a:p>
          <a:p>
            <a:pPr marL="342900" indent="-342900">
              <a:buFont typeface="Arial" panose="020B0604020202020204" pitchFamily="34" charset="0"/>
              <a:buChar char="•"/>
            </a:pPr>
            <a:r>
              <a:rPr lang="en-US" sz="2000" dirty="0"/>
              <a:t>Restricted and high-security areas. </a:t>
            </a:r>
          </a:p>
          <a:p>
            <a:pPr marL="342900" indent="-342900">
              <a:buFont typeface="Arial" panose="020B0604020202020204" pitchFamily="34" charset="0"/>
              <a:buChar char="•"/>
            </a:pPr>
            <a:r>
              <a:rPr lang="en-US" sz="2000" dirty="0"/>
              <a:t>Smart buildings and smart homes. </a:t>
            </a:r>
          </a:p>
          <a:p>
            <a:pPr marL="342900" indent="-342900">
              <a:buFont typeface="Arial" panose="020B0604020202020204" pitchFamily="34" charset="0"/>
              <a:buChar char="•"/>
            </a:pPr>
            <a:r>
              <a:rPr lang="en-US" sz="2000" dirty="0"/>
              <a:t>Government and defense organizations. </a:t>
            </a:r>
          </a:p>
          <a:p>
            <a:pPr marL="342900" indent="-342900">
              <a:buFont typeface="Arial" panose="020B0604020202020204" pitchFamily="34" charset="0"/>
              <a:buChar char="•"/>
            </a:pPr>
            <a:endParaRPr lang="en-IN"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CF1BD47-EA03-B280-B22C-065C1B54B134}"/>
              </a:ext>
            </a:extLst>
          </p:cNvPr>
          <p:cNvSpPr>
            <a:spLocks noGrp="1"/>
          </p:cNvSpPr>
          <p:nvPr>
            <p:ph type="title"/>
          </p:nvPr>
        </p:nvSpPr>
        <p:spPr/>
        <p:txBody>
          <a:bodyPr/>
          <a:lstStyle/>
          <a:p>
            <a:r>
              <a:rPr lang="en-IN" dirty="0"/>
              <a:t>conclusion</a:t>
            </a:r>
          </a:p>
        </p:txBody>
      </p:sp>
      <p:sp>
        <p:nvSpPr>
          <p:cNvPr id="6" name="Rectangle 1">
            <a:extLst>
              <a:ext uri="{FF2B5EF4-FFF2-40B4-BE49-F238E27FC236}">
                <a16:creationId xmlns:a16="http://schemas.microsoft.com/office/drawing/2014/main" id="{60B73FDF-C5BA-EC56-A990-9977F15260E7}"/>
              </a:ext>
            </a:extLst>
          </p:cNvPr>
          <p:cNvSpPr>
            <a:spLocks noGrp="1" noChangeArrowheads="1"/>
          </p:cNvSpPr>
          <p:nvPr>
            <p:ph idx="1"/>
          </p:nvPr>
        </p:nvSpPr>
        <p:spPr bwMode="auto">
          <a:xfrm>
            <a:off x="83128" y="1775343"/>
            <a:ext cx="8905008" cy="324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Fingerprint-Based Door Lock System</a:t>
            </a:r>
            <a:r>
              <a:rPr kumimoji="0" lang="en-US" altLang="en-US" sz="1800" b="0" i="0" u="none" strike="noStrike" cap="none" normalizeH="0" baseline="0" dirty="0">
                <a:ln>
                  <a:noFill/>
                </a:ln>
                <a:solidFill>
                  <a:schemeClr val="tx1"/>
                </a:solidFill>
                <a:effectLst/>
                <a:latin typeface="Arial" panose="020B0604020202020204" pitchFamily="34" charset="0"/>
              </a:rPr>
              <a:t> is an effective and reliable security solution that uses biometric fingerprint authentication to control access. The project successfully eliminates the limitations of traditional key-based locking systems by providing secure, fast, and accurate user verification. Only authorized individuals are granted access, thereby enhancing security and preventing unauthorized entry.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is user-friendly, cost-effective, and suitable for various applications such as homes, offices, laboratories, and other restricted areas. Through this project, the practical implementation of embedded systems and biometric technology has been demonstrated successfully. Future enhancements such as mobile app integration, GSM alerts, and cloud-based monitoring can further improve the functionality and security of the system.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116</TotalTime>
  <Words>854</Words>
  <Application>Microsoft Office PowerPoint</Application>
  <PresentationFormat>On-screen Show (4:3)</PresentationFormat>
  <Paragraphs>106</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Title Slide</vt:lpstr>
      <vt:lpstr>Abstract</vt:lpstr>
      <vt:lpstr>Introduction</vt:lpstr>
      <vt:lpstr>Objectives</vt:lpstr>
      <vt:lpstr>Components Used</vt:lpstr>
      <vt:lpstr>Methodology</vt:lpstr>
      <vt:lpstr>Result</vt:lpstr>
      <vt:lpstr>Advantages</vt:lpstr>
      <vt:lpstr>Applications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vandana avvi</dc:creator>
  <cp:keywords/>
  <dc:description>generated using python-pptx</dc:description>
  <cp:lastModifiedBy>vandana avvi</cp:lastModifiedBy>
  <cp:revision>2</cp:revision>
  <dcterms:created xsi:type="dcterms:W3CDTF">2013-01-27T09:14:16Z</dcterms:created>
  <dcterms:modified xsi:type="dcterms:W3CDTF">2026-06-17T14:52:44Z</dcterms:modified>
  <cp:category/>
</cp:coreProperties>
</file>